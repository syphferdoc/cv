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76" r:id="rId3"/>
    <p:sldId id="373" r:id="rId4"/>
    <p:sldId id="374" r:id="rId5"/>
    <p:sldId id="375" r:id="rId6"/>
    <p:sldId id="354" r:id="rId7"/>
    <p:sldId id="331" r:id="rId8"/>
    <p:sldId id="377" r:id="rId9"/>
    <p:sldId id="332" r:id="rId10"/>
    <p:sldId id="335" r:id="rId11"/>
    <p:sldId id="333" r:id="rId12"/>
    <p:sldId id="336" r:id="rId13"/>
    <p:sldId id="355" r:id="rId14"/>
    <p:sldId id="372" r:id="rId15"/>
    <p:sldId id="378"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454A43-3EEF-4FDA-B3C9-210BD9904B3B}" type="datetimeFigureOut">
              <a:rPr lang="fr-FR" smtClean="0"/>
              <a:t>16/03/2026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21E25-193C-4105-9883-2F599DA5411B}" type="slidenum">
              <a:rPr lang="fr-FR" smtClean="0"/>
              <a:t>‹N°›</a:t>
            </a:fld>
            <a:endParaRPr lang="fr-FR"/>
          </a:p>
        </p:txBody>
      </p:sp>
    </p:spTree>
    <p:extLst>
      <p:ext uri="{BB962C8B-B14F-4D97-AF65-F5344CB8AC3E}">
        <p14:creationId xmlns:p14="http://schemas.microsoft.com/office/powerpoint/2010/main" val="158411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2FA2B4-DF36-4DA7-B510-CC4C734664C7}"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8446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2FA2B4-DF36-4DA7-B510-CC4C734664C7}"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755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2FA2B4-DF36-4DA7-B510-CC4C734664C7}"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3244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2FA2B4-DF36-4DA7-B510-CC4C734664C7}"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261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2FA2B4-DF36-4DA7-B510-CC4C734664C7}"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9539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511587-803C-4397-AB7B-E60927F952D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BEFB936-A56F-4657-A3B0-4184439C5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952AD51-0846-43A9-9DBF-9EA37DAD3981}"/>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6D4C7526-0829-4687-8454-49E52CA7282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121351-81A4-44C2-A9CF-80577142E880}"/>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239748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BF00CE-D38D-4B81-81C0-6B5DC8AB288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B85A5F1-13D6-4CFC-B137-B3FA5A6FC058}"/>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1182EE9-D836-44BC-B922-252EA151136A}"/>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ADF8BE30-7A70-403B-BD8A-859A55BA757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BAB73E0-4F15-4E80-938C-6E8056C656CA}"/>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156123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71B98F-5070-4553-B0B8-6070237BB30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055CDA9-7367-41D6-AC99-C15BA7C264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E2FB5E17-0C29-4094-A1B6-7B2B6A5CA3F2}"/>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62D345DC-BD6E-4F66-B6A8-34F6F70395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CB58B7C-9F88-4ED4-9DBC-CCD49C2A1BF7}"/>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198978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285BCF-54E7-4F67-BFD9-78B272ECFFE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367F0AA-2E8C-4513-BEC6-6E3D0E82A614}"/>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019EC8B-2643-4013-AFD3-81DFF57FE53B}"/>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445D9CE-32C4-44FD-8807-657C3A3050CA}"/>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51EC2F71-6F9F-452E-8FEC-A542C1FF43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5E47EDD-EE41-4E48-9633-6544C435B646}"/>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501377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977EC-05FC-44E9-8AF4-41FF06FE3D2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72CE831-E6BA-4DDF-878A-4725311DF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C5CFC202-7324-430D-B9ED-771F90A927AB}"/>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8679ABE-1F80-476E-A8A6-EFD425BEBD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D727BF69-513A-4571-A402-0BDB0D366397}"/>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882C628-5F01-4D2D-BD12-47607D086880}"/>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8" name="Espace réservé du pied de page 7">
            <a:extLst>
              <a:ext uri="{FF2B5EF4-FFF2-40B4-BE49-F238E27FC236}">
                <a16:creationId xmlns:a16="http://schemas.microsoft.com/office/drawing/2014/main" id="{BE2F91C6-256A-4E93-8D60-9D00B3BCAA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863C329-B79F-4F73-8F9B-E612DDB9584E}"/>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10727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458A82-801F-4D82-BBBD-9277FC98140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2E046CC-75DB-415D-9218-25279B766ED6}"/>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4" name="Espace réservé du pied de page 3">
            <a:extLst>
              <a:ext uri="{FF2B5EF4-FFF2-40B4-BE49-F238E27FC236}">
                <a16:creationId xmlns:a16="http://schemas.microsoft.com/office/drawing/2014/main" id="{C17E22F1-DC51-49A3-8760-CFB5DE200D5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C89BC6E-3199-4112-B5CE-553B1F177D95}"/>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3749284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AFEF44C-EC69-48D5-A3F7-E101C85430C5}"/>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3" name="Espace réservé du pied de page 2">
            <a:extLst>
              <a:ext uri="{FF2B5EF4-FFF2-40B4-BE49-F238E27FC236}">
                <a16:creationId xmlns:a16="http://schemas.microsoft.com/office/drawing/2014/main" id="{9FDE0764-37D5-418E-8B4C-23B38FC083F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30BDA34-261E-4C17-82AB-5FD885CCEAD0}"/>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2541733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120B7F-6BBC-4CE6-ABB1-DB617F198C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819412F-40F5-4120-BED2-29851607FD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E72317D-A967-48B8-9B59-370DA5FC1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C4E4E1E0-D838-4294-9E07-8E34722C8EA3}"/>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2EE2CA81-5EBF-4C39-BB75-EE20A17F420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F7C275-AEAD-4052-AE0B-4929077C1A4D}"/>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1888964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9AD5C0-CECF-418B-8233-EBDBA6E0E06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6CC6D90-F74D-4D21-AA7E-B8E8BC9221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876F049-D5CA-43E9-B39B-136A500B3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8204462D-5EFA-42DA-8E8A-A492951A23E1}"/>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914FD852-B091-4CBA-8317-7EA9EE8A8E9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9D5C711-6A6C-45C0-B7DD-7A0D91D1CC05}"/>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1117197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449DE6-1666-435F-9ACE-82A7DCECA0E1}"/>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9833B8C-7D2A-4D7A-8551-7C2C04888504}"/>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BB4D0A-4D0D-4975-B6D5-08E5E83587CF}"/>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C8C20C5F-76C7-4509-A6B4-18D6ADDB87C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3CEBD7D-16C1-4338-869B-56287CCBC9D1}"/>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3335259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6D6275A-A428-4E6F-963C-DE2859794BE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63CC18D-9CCB-4C47-976D-26C17AA98BD7}"/>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2E1A18-DE10-4E31-8BAE-0415D3115150}"/>
              </a:ext>
            </a:extLst>
          </p:cNvPr>
          <p:cNvSpPr>
            <a:spLocks noGrp="1"/>
          </p:cNvSpPr>
          <p:nvPr>
            <p:ph type="dt" sz="half" idx="10"/>
          </p:nvPr>
        </p:nvSpPr>
        <p:spPr/>
        <p:txBody>
          <a:body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004A151C-DEB4-47ED-82C1-C634FF61E0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3F488A-2C64-4550-B4A4-2637E4BBC0F6}"/>
              </a:ext>
            </a:extLst>
          </p:cNvPr>
          <p:cNvSpPr>
            <a:spLocks noGrp="1"/>
          </p:cNvSpPr>
          <p:nvPr>
            <p:ph type="sldNum" sz="quarter" idx="12"/>
          </p:nvPr>
        </p:nvSpPr>
        <p:spPr/>
        <p:txBody>
          <a:bodyPr/>
          <a:lstStyle/>
          <a:p>
            <a:fld id="{A4E40903-2D38-4A1D-92DD-6C98F47A61AB}" type="slidenum">
              <a:rPr lang="fr-FR" smtClean="0"/>
              <a:t>‹N°›</a:t>
            </a:fld>
            <a:endParaRPr lang="fr-FR"/>
          </a:p>
        </p:txBody>
      </p:sp>
    </p:spTree>
    <p:extLst>
      <p:ext uri="{BB962C8B-B14F-4D97-AF65-F5344CB8AC3E}">
        <p14:creationId xmlns:p14="http://schemas.microsoft.com/office/powerpoint/2010/main" val="3830573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1A109EB-0CC2-4D3D-937B-FCEF20BBE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5A9EB8D-163A-42A5-B878-F641BB768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456DB42-FD18-48B5-ABCA-1365698E8E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08618-C0E1-4C81-AB70-B3A13E99F78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FF5A39E5-B629-42F4-9125-B36ABB5253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5677AF7-5B46-4DFF-9C15-51EA923502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40903-2D38-4A1D-92DD-6C98F47A61AB}" type="slidenum">
              <a:rPr lang="fr-FR" smtClean="0"/>
              <a:t>‹N°›</a:t>
            </a:fld>
            <a:endParaRPr lang="fr-FR"/>
          </a:p>
        </p:txBody>
      </p:sp>
    </p:spTree>
    <p:extLst>
      <p:ext uri="{BB962C8B-B14F-4D97-AF65-F5344CB8AC3E}">
        <p14:creationId xmlns:p14="http://schemas.microsoft.com/office/powerpoint/2010/main" val="1891229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compilatio.net/blog/normes-ap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ompilatio.net/blog/triche-avec-chatgp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lpais.com/economia/2017/04/26/actualidad/1493211122_897645.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aFk_h45qxsU&amp;ebc=ANyPxKpUwefDgUexhYwV2-J6mOKRK_8WE-8iODFqjd6_jtinqG9ZGlerOplGGGqDK5hak-d6oyJBG_S_giW2m_eT-0ROmFMM8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lpais.com/economia/2016/02/29/actualidad/1456741305_140364.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3002A0-005B-4846-86BD-90A21EC8317D}"/>
              </a:ext>
            </a:extLst>
          </p:cNvPr>
          <p:cNvSpPr>
            <a:spLocks noGrp="1"/>
          </p:cNvSpPr>
          <p:nvPr>
            <p:ph type="ctrTitle"/>
          </p:nvPr>
        </p:nvSpPr>
        <p:spPr/>
        <p:txBody>
          <a:bodyPr>
            <a:normAutofit fontScale="90000"/>
          </a:bodyPr>
          <a:lstStyle/>
          <a:p>
            <a:r>
              <a:rPr lang="fr-FR" dirty="0"/>
              <a:t>LAS NORMAS BIBLIOGRAFICAS</a:t>
            </a:r>
            <a:br>
              <a:rPr lang="fr-FR" dirty="0"/>
            </a:br>
            <a:r>
              <a:rPr lang="fr-FR" dirty="0"/>
              <a:t>APA</a:t>
            </a:r>
          </a:p>
        </p:txBody>
      </p:sp>
      <p:sp>
        <p:nvSpPr>
          <p:cNvPr id="3" name="Sous-titre 2">
            <a:extLst>
              <a:ext uri="{FF2B5EF4-FFF2-40B4-BE49-F238E27FC236}">
                <a16:creationId xmlns:a16="http://schemas.microsoft.com/office/drawing/2014/main" id="{A67958C4-AADB-4517-9E8D-DCF0DD0C9B9A}"/>
              </a:ext>
            </a:extLst>
          </p:cNvPr>
          <p:cNvSpPr>
            <a:spLocks noGrp="1"/>
          </p:cNvSpPr>
          <p:nvPr>
            <p:ph type="subTitle" idx="1"/>
          </p:nvPr>
        </p:nvSpPr>
        <p:spPr/>
        <p:txBody>
          <a:bodyPr/>
          <a:lstStyle/>
          <a:p>
            <a:r>
              <a:rPr lang="fr-FR" dirty="0"/>
              <a:t>Alba LARA-ALENGRIN</a:t>
            </a:r>
          </a:p>
          <a:p>
            <a:r>
              <a:rPr lang="fr-FR" dirty="0"/>
              <a:t>UPV Montpellier </a:t>
            </a:r>
          </a:p>
        </p:txBody>
      </p:sp>
    </p:spTree>
    <p:extLst>
      <p:ext uri="{BB962C8B-B14F-4D97-AF65-F5344CB8AC3E}">
        <p14:creationId xmlns:p14="http://schemas.microsoft.com/office/powerpoint/2010/main" val="317562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419EF1-32CA-4F56-B3E1-908A5B41065A}"/>
              </a:ext>
            </a:extLst>
          </p:cNvPr>
          <p:cNvSpPr>
            <a:spLocks noGrp="1"/>
          </p:cNvSpPr>
          <p:nvPr>
            <p:ph idx="1"/>
          </p:nvPr>
        </p:nvSpPr>
        <p:spPr/>
        <p:txBody>
          <a:bodyPr>
            <a:normAutofit/>
          </a:bodyPr>
          <a:lstStyle/>
          <a:p>
            <a:pPr marL="0" indent="0" algn="ctr">
              <a:buNone/>
            </a:pPr>
            <a:endParaRPr lang="fr-FR" sz="5400" dirty="0"/>
          </a:p>
          <a:p>
            <a:pPr marL="0" indent="0" algn="ctr">
              <a:buNone/>
            </a:pPr>
            <a:r>
              <a:rPr lang="fr-FR" sz="5400" dirty="0"/>
              <a:t>Source</a:t>
            </a:r>
          </a:p>
          <a:p>
            <a:pPr marL="0" indent="0" algn="ctr">
              <a:buNone/>
            </a:pPr>
            <a:r>
              <a:rPr lang="fr-FR" sz="5400" dirty="0">
                <a:hlinkClick r:id="rId2"/>
              </a:rPr>
              <a:t>https://www.compilatio.net/blog/normes-apa</a:t>
            </a:r>
            <a:endParaRPr lang="fr-FR" sz="5400" dirty="0"/>
          </a:p>
          <a:p>
            <a:pPr marL="0" indent="0" algn="ctr">
              <a:buNone/>
            </a:pPr>
            <a:endParaRPr lang="fr-FR" sz="5400" dirty="0"/>
          </a:p>
        </p:txBody>
      </p:sp>
    </p:spTree>
    <p:extLst>
      <p:ext uri="{BB962C8B-B14F-4D97-AF65-F5344CB8AC3E}">
        <p14:creationId xmlns:p14="http://schemas.microsoft.com/office/powerpoint/2010/main" val="87673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47B266-EDA9-4209-8D23-4E152861FFDF}"/>
              </a:ext>
            </a:extLst>
          </p:cNvPr>
          <p:cNvSpPr>
            <a:spLocks noGrp="1"/>
          </p:cNvSpPr>
          <p:nvPr>
            <p:ph type="title"/>
          </p:nvPr>
        </p:nvSpPr>
        <p:spPr/>
        <p:txBody>
          <a:bodyPr/>
          <a:lstStyle/>
          <a:p>
            <a:pPr algn="ctr"/>
            <a:r>
              <a:rPr lang="fr-FR" dirty="0"/>
              <a:t>LAS CITAS (norma APA)</a:t>
            </a:r>
          </a:p>
        </p:txBody>
      </p:sp>
      <p:sp>
        <p:nvSpPr>
          <p:cNvPr id="3" name="Espace réservé du contenu 2">
            <a:extLst>
              <a:ext uri="{FF2B5EF4-FFF2-40B4-BE49-F238E27FC236}">
                <a16:creationId xmlns:a16="http://schemas.microsoft.com/office/drawing/2014/main" id="{518D894A-095F-43B3-BC19-6E7C9B3AABA1}"/>
              </a:ext>
            </a:extLst>
          </p:cNvPr>
          <p:cNvSpPr>
            <a:spLocks noGrp="1"/>
          </p:cNvSpPr>
          <p:nvPr>
            <p:ph idx="1"/>
          </p:nvPr>
        </p:nvSpPr>
        <p:spPr/>
        <p:txBody>
          <a:bodyPr/>
          <a:lstStyle/>
          <a:p>
            <a:pPr marL="0" indent="0">
              <a:buNone/>
            </a:pPr>
            <a:r>
              <a:rPr lang="es-MX" dirty="0">
                <a:cs typeface="Times New Roman" panose="02020603050405020304" pitchFamily="18" charset="0"/>
              </a:rPr>
              <a:t>¿Cómo citar sus fuentes?</a:t>
            </a:r>
            <a:endParaRPr lang="fr-FR" dirty="0">
              <a:cs typeface="Times New Roman" panose="02020603050405020304" pitchFamily="18" charset="0"/>
            </a:endParaRPr>
          </a:p>
          <a:p>
            <a:pPr marL="514350" lvl="0" indent="-514350">
              <a:buAutoNum type="alphaUcParenR"/>
            </a:pPr>
            <a:r>
              <a:rPr lang="es-MX" dirty="0">
                <a:cs typeface="Times New Roman" panose="02020603050405020304" pitchFamily="18" charset="0"/>
              </a:rPr>
              <a:t>Cita textual</a:t>
            </a:r>
          </a:p>
          <a:p>
            <a:pPr marL="0" indent="0">
              <a:buNone/>
            </a:pPr>
            <a:r>
              <a:rPr lang="es-MX" dirty="0">
                <a:cs typeface="Times New Roman" panose="02020603050405020304" pitchFamily="18" charset="0"/>
                <a:sym typeface="Wingdings" panose="05000000000000000000" pitchFamily="2" charset="2"/>
              </a:rPr>
              <a:t> Si m</a:t>
            </a:r>
            <a:r>
              <a:rPr lang="es-MX" dirty="0">
                <a:cs typeface="Times New Roman" panose="02020603050405020304" pitchFamily="18" charset="0"/>
              </a:rPr>
              <a:t>enos de tres líneas, se abren comillas para transcribir tal cual el enunciado (referencias de la fuente entre paréntesis).</a:t>
            </a:r>
            <a:endParaRPr lang="fr-FR" dirty="0">
              <a:cs typeface="Times New Roman" panose="02020603050405020304" pitchFamily="18" charset="0"/>
            </a:endParaRPr>
          </a:p>
          <a:p>
            <a:pPr marL="0" indent="0" algn="just">
              <a:buNone/>
            </a:pPr>
            <a:r>
              <a:rPr lang="es-MX" dirty="0">
                <a:cs typeface="Times New Roman" panose="02020603050405020304" pitchFamily="18" charset="0"/>
              </a:rPr>
              <a:t>Según el informe sectorial del Turismo de Tenerife para el primer trimestre 2016, “Los hoteleros de las islas registran el segundo mayor crecimiento del empleo en un primer trimestre de año, desde la primavera árabe del año 2011” (</a:t>
            </a:r>
            <a:r>
              <a:rPr lang="es-MX" dirty="0" err="1"/>
              <a:t>Camara</a:t>
            </a:r>
            <a:r>
              <a:rPr lang="es-MX" dirty="0"/>
              <a:t> de Santa Cruz de Tenerife, 2016).</a:t>
            </a:r>
            <a:endParaRPr lang="fr-FR" dirty="0"/>
          </a:p>
        </p:txBody>
      </p:sp>
    </p:spTree>
    <p:extLst>
      <p:ext uri="{BB962C8B-B14F-4D97-AF65-F5344CB8AC3E}">
        <p14:creationId xmlns:p14="http://schemas.microsoft.com/office/powerpoint/2010/main" val="32883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704A55-FEC3-4E86-9006-45F448F8A831}"/>
              </a:ext>
            </a:extLst>
          </p:cNvPr>
          <p:cNvSpPr>
            <a:spLocks noGrp="1"/>
          </p:cNvSpPr>
          <p:nvPr>
            <p:ph type="title"/>
          </p:nvPr>
        </p:nvSpPr>
        <p:spPr/>
        <p:txBody>
          <a:bodyPr/>
          <a:lstStyle/>
          <a:p>
            <a:pPr algn="ctr"/>
            <a:r>
              <a:rPr lang="fr-FR" dirty="0"/>
              <a:t>LAS CITAS (norma APA)</a:t>
            </a:r>
          </a:p>
        </p:txBody>
      </p:sp>
      <p:sp>
        <p:nvSpPr>
          <p:cNvPr id="3" name="Espace réservé du contenu 2">
            <a:extLst>
              <a:ext uri="{FF2B5EF4-FFF2-40B4-BE49-F238E27FC236}">
                <a16:creationId xmlns:a16="http://schemas.microsoft.com/office/drawing/2014/main" id="{403F5565-E442-4D73-9661-1F21756563F8}"/>
              </a:ext>
            </a:extLst>
          </p:cNvPr>
          <p:cNvSpPr>
            <a:spLocks noGrp="1"/>
          </p:cNvSpPr>
          <p:nvPr>
            <p:ph idx="1"/>
          </p:nvPr>
        </p:nvSpPr>
        <p:spPr/>
        <p:txBody>
          <a:bodyPr>
            <a:normAutofit fontScale="92500" lnSpcReduction="20000"/>
          </a:bodyPr>
          <a:lstStyle/>
          <a:p>
            <a:pPr algn="just">
              <a:buFont typeface="Wingdings" panose="05000000000000000000" pitchFamily="2" charset="2"/>
              <a:buChar char="à"/>
            </a:pPr>
            <a:r>
              <a:rPr lang="es-MX" dirty="0"/>
              <a:t>Si la cita excede las tres líneas se introduce, se separa del corpus dejando un espacio, no se ponen comillas y se termina con un  llamado a nota antes del punto:</a:t>
            </a:r>
          </a:p>
          <a:p>
            <a:pPr marL="0" indent="0" algn="just">
              <a:buNone/>
            </a:pPr>
            <a:r>
              <a:rPr lang="es-MX" dirty="0"/>
              <a:t>	El último informe de coyuntura del sector turístico elaborado por la Cámara de Comercio de Santa Cruz de Tenerife, correspondiente al primer trimestre del año 2016 afirma que:</a:t>
            </a:r>
          </a:p>
          <a:p>
            <a:pPr marL="0" indent="0" algn="just">
              <a:buNone/>
            </a:pPr>
            <a:r>
              <a:rPr lang="es-MX" dirty="0"/>
              <a:t>…el número de turistas internacionales llegados a las islas durante el primer trimestre de 2017 ascendió a 3.661.245. Cifra que supone un incremento del 6,8% respecto al mismo trimestre de 2016, resultado algo inferior al crecimiento medio nacional para el mismo periodo, ya que este fue del 9,3%.  Del mismo modo, los datos de AENA publicados por la Consejería de Turismo ponen de manifiesto un incremento interanual de la entrada de turistas extranjeros del 6,7% </a:t>
            </a:r>
            <a:r>
              <a:rPr lang="es-MX" dirty="0">
                <a:cs typeface="Times New Roman" panose="02020603050405020304" pitchFamily="18" charset="0"/>
              </a:rPr>
              <a:t>(</a:t>
            </a:r>
            <a:r>
              <a:rPr lang="es-MX" dirty="0" err="1"/>
              <a:t>Camara</a:t>
            </a:r>
            <a:r>
              <a:rPr lang="es-MX" dirty="0"/>
              <a:t> de Santa Cruz de Tenerife, 2016).</a:t>
            </a:r>
          </a:p>
          <a:p>
            <a:endParaRPr lang="fr-FR" dirty="0"/>
          </a:p>
        </p:txBody>
      </p:sp>
    </p:spTree>
    <p:extLst>
      <p:ext uri="{BB962C8B-B14F-4D97-AF65-F5344CB8AC3E}">
        <p14:creationId xmlns:p14="http://schemas.microsoft.com/office/powerpoint/2010/main" val="2464573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99B6C2-068B-4057-A012-75ED9FE5E89F}"/>
              </a:ext>
            </a:extLst>
          </p:cNvPr>
          <p:cNvSpPr>
            <a:spLocks noGrp="1"/>
          </p:cNvSpPr>
          <p:nvPr>
            <p:ph type="title"/>
          </p:nvPr>
        </p:nvSpPr>
        <p:spPr/>
        <p:txBody>
          <a:bodyPr/>
          <a:lstStyle/>
          <a:p>
            <a:pPr algn="ctr"/>
            <a:r>
              <a:rPr lang="fr-FR" dirty="0"/>
              <a:t>LAS CITAS (norma APA)</a:t>
            </a:r>
          </a:p>
        </p:txBody>
      </p:sp>
      <p:sp>
        <p:nvSpPr>
          <p:cNvPr id="3" name="Espace réservé du contenu 2">
            <a:extLst>
              <a:ext uri="{FF2B5EF4-FFF2-40B4-BE49-F238E27FC236}">
                <a16:creationId xmlns:a16="http://schemas.microsoft.com/office/drawing/2014/main" id="{DE5ED897-B45D-4914-B44D-CB958CCB2D3D}"/>
              </a:ext>
            </a:extLst>
          </p:cNvPr>
          <p:cNvSpPr>
            <a:spLocks noGrp="1"/>
          </p:cNvSpPr>
          <p:nvPr>
            <p:ph idx="1"/>
          </p:nvPr>
        </p:nvSpPr>
        <p:spPr/>
        <p:txBody>
          <a:bodyPr/>
          <a:lstStyle/>
          <a:p>
            <a:pPr marL="0" indent="0" algn="just">
              <a:buNone/>
            </a:pPr>
            <a:r>
              <a:rPr lang="fr-FR" dirty="0"/>
              <a:t>B) </a:t>
            </a:r>
            <a:r>
              <a:rPr lang="fr-FR" sz="3600" dirty="0"/>
              <a:t>Cita no </a:t>
            </a:r>
            <a:r>
              <a:rPr lang="fr-FR" sz="3600" dirty="0" err="1"/>
              <a:t>textual</a:t>
            </a:r>
            <a:endParaRPr lang="fr-FR" sz="3600" dirty="0"/>
          </a:p>
          <a:p>
            <a:pPr marL="0" indent="0" algn="just">
              <a:buNone/>
            </a:pPr>
            <a:r>
              <a:rPr lang="es-MX" sz="3600" dirty="0"/>
              <a:t>Se alude a la fuente o autor parafraseando o resumiendo la idea (sin tener que indicar el número de página):</a:t>
            </a:r>
          </a:p>
          <a:p>
            <a:pPr marL="0" indent="0" algn="just">
              <a:buNone/>
            </a:pPr>
            <a:r>
              <a:rPr lang="es-MX" sz="3600" dirty="0"/>
              <a:t>Según un artículo reciente de la revista </a:t>
            </a:r>
            <a:r>
              <a:rPr lang="es-MX" sz="3600" i="1" dirty="0"/>
              <a:t>El viajero</a:t>
            </a:r>
            <a:r>
              <a:rPr lang="es-MX" sz="3600" dirty="0"/>
              <a:t>, el sector del turismo en España está remontando y las expectativas para 2017 son optimistas, pues aún no se ha tocado techo (GUTIERREZ, 2017)</a:t>
            </a:r>
            <a:endParaRPr lang="fr-FR" sz="3600" dirty="0"/>
          </a:p>
        </p:txBody>
      </p:sp>
    </p:spTree>
    <p:extLst>
      <p:ext uri="{BB962C8B-B14F-4D97-AF65-F5344CB8AC3E}">
        <p14:creationId xmlns:p14="http://schemas.microsoft.com/office/powerpoint/2010/main" val="1434089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414686" cy="821124"/>
          </a:xfrm>
        </p:spPr>
        <p:txBody>
          <a:bodyPr/>
          <a:lstStyle/>
          <a:p>
            <a:pPr algn="ctr"/>
            <a:r>
              <a:rPr lang="fr-FR" dirty="0"/>
              <a:t>ILUSTRACIONES</a:t>
            </a:r>
          </a:p>
        </p:txBody>
      </p:sp>
      <p:pic>
        <p:nvPicPr>
          <p:cNvPr id="4" name="Espace réservé du contenu 3" descr="Résultat de recherche d'images pour &quot;GRAFICA TURISMO EN ESPAÑA EN 2017&quot;"/>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6853" y="1690688"/>
            <a:ext cx="6087763" cy="3245708"/>
          </a:xfrm>
          <a:prstGeom prst="rect">
            <a:avLst/>
          </a:prstGeom>
          <a:noFill/>
          <a:ln>
            <a:noFill/>
          </a:ln>
        </p:spPr>
      </p:pic>
      <p:sp>
        <p:nvSpPr>
          <p:cNvPr id="6" name="ZoneTexte 5"/>
          <p:cNvSpPr txBox="1"/>
          <p:nvPr/>
        </p:nvSpPr>
        <p:spPr>
          <a:xfrm>
            <a:off x="2603157" y="5440834"/>
            <a:ext cx="71751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Ilustración 1 Turistas extranjeros en enero. Fuente </a:t>
            </a:r>
            <a:r>
              <a:rPr kumimoji="0" lang="es-MX" sz="1800" b="0" i="1" u="none" strike="noStrike" kern="1200" cap="none" spc="0" normalizeH="0" baseline="0" noProof="0" dirty="0">
                <a:ln>
                  <a:noFill/>
                </a:ln>
                <a:solidFill>
                  <a:prstClr val="black"/>
                </a:solidFill>
                <a:effectLst/>
                <a:uLnTx/>
                <a:uFillTx/>
                <a:latin typeface="Calibri" panose="020F0502020204030204"/>
                <a:ea typeface="+mn-ea"/>
                <a:cs typeface="+mn-cs"/>
              </a:rPr>
              <a:t>El País</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91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br>
              <a:rPr lang="es-MX" dirty="0"/>
            </a:br>
            <a:r>
              <a:rPr lang="es-MX" dirty="0"/>
              <a:t>El informe de prácticas</a:t>
            </a:r>
            <a:br>
              <a:rPr lang="es-MX" dirty="0"/>
            </a:br>
            <a:r>
              <a:rPr lang="es-MX" dirty="0"/>
              <a:t> </a:t>
            </a:r>
            <a:br>
              <a:rPr lang="fr-FR" dirty="0"/>
            </a:br>
            <a:endParaRPr lang="fr-FR" dirty="0"/>
          </a:p>
        </p:txBody>
      </p:sp>
      <p:sp>
        <p:nvSpPr>
          <p:cNvPr id="3" name="Espace réservé du contenu 2"/>
          <p:cNvSpPr>
            <a:spLocks noGrp="1"/>
          </p:cNvSpPr>
          <p:nvPr>
            <p:ph idx="1"/>
          </p:nvPr>
        </p:nvSpPr>
        <p:spPr/>
        <p:txBody>
          <a:bodyPr>
            <a:normAutofit fontScale="92500" lnSpcReduction="10000"/>
          </a:bodyPr>
          <a:lstStyle/>
          <a:p>
            <a:pPr marL="0" indent="0">
              <a:buNone/>
            </a:pPr>
            <a:r>
              <a:rPr lang="es-MX" sz="3200" dirty="0"/>
              <a:t>LA PRESENTACION DE LA BIBLIOGRAFIA, </a:t>
            </a:r>
            <a:r>
              <a:rPr lang="es-MX" sz="3200" dirty="0">
                <a:solidFill>
                  <a:srgbClr val="FF0000"/>
                </a:solidFill>
              </a:rPr>
              <a:t>debe acatar una sola norma bibliográfica, aquí APA</a:t>
            </a:r>
            <a:r>
              <a:rPr lang="es-MX" sz="3200" dirty="0"/>
              <a:t> (respetar orden, puntuación, tipos de letras). </a:t>
            </a:r>
            <a:r>
              <a:rPr lang="es-MX" sz="3200"/>
              <a:t>EN ORDEN ALFABETICO.</a:t>
            </a:r>
            <a:endParaRPr lang="es-MX" sz="3200" b="1" dirty="0"/>
          </a:p>
          <a:p>
            <a:pPr marL="0" indent="0">
              <a:buNone/>
            </a:pPr>
            <a:r>
              <a:rPr lang="es-MX" sz="3200" b="1" dirty="0"/>
              <a:t>FUENTES IMPRESAS</a:t>
            </a:r>
            <a:endParaRPr lang="fr-FR" sz="3200" dirty="0"/>
          </a:p>
          <a:p>
            <a:r>
              <a:rPr lang="es-MX" sz="3200" b="1" dirty="0"/>
              <a:t>Obra con un solo autor principal :</a:t>
            </a:r>
            <a:endParaRPr lang="fr-FR" sz="3200" dirty="0"/>
          </a:p>
          <a:p>
            <a:pPr marL="0" indent="0">
              <a:buNone/>
            </a:pPr>
            <a:r>
              <a:rPr lang="fr-FR" sz="3200" dirty="0"/>
              <a:t>Nom de l’auteur, Initiale(s) du prénom. (Date). </a:t>
            </a:r>
            <a:r>
              <a:rPr lang="fr-FR" sz="3200" i="1" dirty="0"/>
              <a:t>Titre. </a:t>
            </a:r>
            <a:r>
              <a:rPr lang="fr-FR" sz="3200" dirty="0"/>
              <a:t>Source.</a:t>
            </a:r>
          </a:p>
          <a:p>
            <a:pPr marL="0" indent="0">
              <a:buNone/>
            </a:pPr>
            <a:r>
              <a:rPr lang="es-MX" sz="3200" dirty="0" err="1"/>
              <a:t>Farinos</a:t>
            </a:r>
            <a:r>
              <a:rPr lang="es-MX" sz="3200" dirty="0"/>
              <a:t> Viñas, J. E. (2016).  </a:t>
            </a:r>
            <a:r>
              <a:rPr lang="es-MX" sz="3200" i="1" dirty="0"/>
              <a:t>Gestión financiera de la empresa turística</a:t>
            </a:r>
            <a:r>
              <a:rPr lang="es-MX" sz="3200" dirty="0"/>
              <a:t>, Editorial Síntesis.</a:t>
            </a:r>
            <a:endParaRPr lang="fr-FR" sz="3200" dirty="0"/>
          </a:p>
          <a:p>
            <a:pPr marL="0" indent="0" algn="ctr">
              <a:buNone/>
            </a:pPr>
            <a:r>
              <a:rPr lang="fr-FR" sz="3900" dirty="0">
                <a:solidFill>
                  <a:srgbClr val="FF0000"/>
                </a:solidFill>
              </a:rPr>
              <a:t>TITULO EN ITALICAS</a:t>
            </a:r>
          </a:p>
        </p:txBody>
      </p:sp>
    </p:spTree>
    <p:extLst>
      <p:ext uri="{BB962C8B-B14F-4D97-AF65-F5344CB8AC3E}">
        <p14:creationId xmlns:p14="http://schemas.microsoft.com/office/powerpoint/2010/main" val="3137060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FD3144-6BB1-48E1-834A-BCE5B6932466}"/>
              </a:ext>
            </a:extLst>
          </p:cNvPr>
          <p:cNvSpPr>
            <a:spLocks noGrp="1"/>
          </p:cNvSpPr>
          <p:nvPr>
            <p:ph type="title"/>
          </p:nvPr>
        </p:nvSpPr>
        <p:spPr/>
        <p:txBody>
          <a:bodyPr/>
          <a:lstStyle/>
          <a:p>
            <a:pPr algn="ctr"/>
            <a:r>
              <a:rPr lang="fr-FR" dirty="0"/>
              <a:t>LAS REFERENCIAS BIBLIOGRAFICAS</a:t>
            </a:r>
          </a:p>
        </p:txBody>
      </p:sp>
      <p:sp>
        <p:nvSpPr>
          <p:cNvPr id="3" name="Espace réservé du contenu 2">
            <a:extLst>
              <a:ext uri="{FF2B5EF4-FFF2-40B4-BE49-F238E27FC236}">
                <a16:creationId xmlns:a16="http://schemas.microsoft.com/office/drawing/2014/main" id="{1D7C5867-21E6-4FC8-83AA-D422AC158A16}"/>
              </a:ext>
            </a:extLst>
          </p:cNvPr>
          <p:cNvSpPr>
            <a:spLocks noGrp="1"/>
          </p:cNvSpPr>
          <p:nvPr>
            <p:ph idx="1"/>
          </p:nvPr>
        </p:nvSpPr>
        <p:spPr/>
        <p:txBody>
          <a:bodyPr>
            <a:normAutofit/>
          </a:bodyPr>
          <a:lstStyle/>
          <a:p>
            <a:pPr algn="just"/>
            <a:r>
              <a:rPr lang="fr-FR" sz="4000" dirty="0"/>
              <a:t>COMO CITAR UN CAPITULO DE LIBRO:</a:t>
            </a:r>
          </a:p>
          <a:p>
            <a:pPr marL="0" indent="0" algn="just">
              <a:buNone/>
            </a:pPr>
            <a:r>
              <a:rPr lang="fr-FR" sz="4000" dirty="0"/>
              <a:t>Nom de l’auteur, Initiale(s) du prénom. (Date). Titre du chapitre. In </a:t>
            </a:r>
            <a:r>
              <a:rPr lang="fr-FR" sz="4000" i="1" dirty="0"/>
              <a:t>Titre du livre (page de début - page de fin du chapitre). </a:t>
            </a:r>
            <a:r>
              <a:rPr lang="fr-FR" sz="4000" dirty="0"/>
              <a:t>Nom de l’éditeur.</a:t>
            </a:r>
          </a:p>
          <a:p>
            <a:pPr marL="0" indent="0" algn="just">
              <a:buNone/>
            </a:pPr>
            <a:r>
              <a:rPr lang="fr-FR" sz="4000" dirty="0"/>
              <a:t>Goleman, D. (2014). 1. L’art de bien s’entendre avec les autres. In </a:t>
            </a:r>
            <a:r>
              <a:rPr lang="fr-FR" sz="4000" i="1" dirty="0"/>
              <a:t>L’intelligence émotionnelle</a:t>
            </a:r>
            <a:r>
              <a:rPr lang="fr-FR" sz="4000" dirty="0"/>
              <a:t> (p. 17-19). J’ai lu.</a:t>
            </a:r>
          </a:p>
        </p:txBody>
      </p:sp>
    </p:spTree>
    <p:extLst>
      <p:ext uri="{BB962C8B-B14F-4D97-AF65-F5344CB8AC3E}">
        <p14:creationId xmlns:p14="http://schemas.microsoft.com/office/powerpoint/2010/main" val="3857470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br>
              <a:rPr lang="es-MX" dirty="0"/>
            </a:br>
            <a:br>
              <a:rPr lang="es-MX" dirty="0"/>
            </a:br>
            <a:br>
              <a:rPr lang="es-MX" dirty="0"/>
            </a:br>
            <a:r>
              <a:rPr lang="fr-FR" dirty="0"/>
              <a:t>LAS REFERENCIAS BIBLIOGRAFICAS</a:t>
            </a:r>
            <a:br>
              <a:rPr lang="fr-FR" dirty="0"/>
            </a:br>
            <a:br>
              <a:rPr lang="es-MX" dirty="0"/>
            </a:br>
            <a:br>
              <a:rPr lang="fr-FR" dirty="0"/>
            </a:br>
            <a:endParaRPr lang="fr-FR" dirty="0"/>
          </a:p>
        </p:txBody>
      </p:sp>
      <p:sp>
        <p:nvSpPr>
          <p:cNvPr id="3" name="Espace réservé du contenu 2"/>
          <p:cNvSpPr>
            <a:spLocks noGrp="1"/>
          </p:cNvSpPr>
          <p:nvPr>
            <p:ph idx="1"/>
          </p:nvPr>
        </p:nvSpPr>
        <p:spPr/>
        <p:txBody>
          <a:bodyPr>
            <a:normAutofit lnSpcReduction="10000"/>
          </a:bodyPr>
          <a:lstStyle/>
          <a:p>
            <a:r>
              <a:rPr lang="es-MX" b="1" dirty="0"/>
              <a:t>A</a:t>
            </a:r>
            <a:r>
              <a:rPr lang="es-MX" sz="3200" b="1" dirty="0"/>
              <a:t>rtículo en una revista  :</a:t>
            </a:r>
            <a:endParaRPr lang="fr-FR" sz="3200" dirty="0"/>
          </a:p>
          <a:p>
            <a:pPr marL="0" indent="0">
              <a:buNone/>
            </a:pPr>
            <a:endParaRPr lang="fr-FR" sz="3200" dirty="0"/>
          </a:p>
          <a:p>
            <a:pPr marL="0" indent="0">
              <a:buNone/>
            </a:pPr>
            <a:r>
              <a:rPr lang="fr-FR" sz="3200" b="1" dirty="0"/>
              <a:t>Règle de citation : </a:t>
            </a:r>
            <a:r>
              <a:rPr lang="fr-FR" sz="3200" dirty="0"/>
              <a:t>Nom de l’auteur, Initiale(s) du prénom. (Date). Titre de l’article. </a:t>
            </a:r>
            <a:r>
              <a:rPr lang="fr-FR" sz="3200" i="1" dirty="0"/>
              <a:t>Titre de la revue, volume </a:t>
            </a:r>
            <a:r>
              <a:rPr lang="fr-FR" sz="3200" dirty="0"/>
              <a:t>(numéro), page de début - page de fin.</a:t>
            </a:r>
          </a:p>
          <a:p>
            <a:pPr marL="0" indent="0">
              <a:buNone/>
            </a:pPr>
            <a:br>
              <a:rPr lang="fr-FR" sz="3200" dirty="0"/>
            </a:br>
            <a:r>
              <a:rPr lang="fr-FR" sz="3200" b="1" dirty="0"/>
              <a:t>Exemple : </a:t>
            </a:r>
            <a:r>
              <a:rPr lang="fr-FR" sz="3200" dirty="0"/>
              <a:t>Delmotte, S. (2009). L’argumentation dans l’accès aux savoirs dans l’édition numérique. </a:t>
            </a:r>
            <a:r>
              <a:rPr lang="fr-FR" sz="3200" i="1" dirty="0"/>
              <a:t>Les Cahiers du numérique</a:t>
            </a:r>
            <a:r>
              <a:rPr lang="fr-FR" sz="3200" dirty="0"/>
              <a:t>, 5 (2), 53-84.</a:t>
            </a:r>
            <a:endParaRPr lang="es-MX" sz="3200" dirty="0"/>
          </a:p>
          <a:p>
            <a:pPr marL="0" indent="0">
              <a:buNone/>
            </a:pPr>
            <a:endParaRPr lang="fr-FR" dirty="0"/>
          </a:p>
        </p:txBody>
      </p:sp>
    </p:spTree>
    <p:extLst>
      <p:ext uri="{BB962C8B-B14F-4D97-AF65-F5344CB8AC3E}">
        <p14:creationId xmlns:p14="http://schemas.microsoft.com/office/powerpoint/2010/main" val="33467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br>
              <a:rPr lang="es-MX" b="1" dirty="0"/>
            </a:br>
            <a:br>
              <a:rPr lang="es-MX" b="1" dirty="0"/>
            </a:br>
            <a:r>
              <a:rPr lang="fr-FR" dirty="0"/>
              <a:t>LAS REFERENCIAS BIBLIOGRAFICAS</a:t>
            </a:r>
            <a:br>
              <a:rPr lang="es-MX" b="1" dirty="0"/>
            </a:br>
            <a:r>
              <a:rPr lang="es-MX" b="1" dirty="0"/>
              <a:t>FUENTES DIGITALES (</a:t>
            </a:r>
            <a:r>
              <a:rPr lang="es-MX" b="1" dirty="0" err="1"/>
              <a:t>Sitiografía</a:t>
            </a:r>
            <a:r>
              <a:rPr lang="es-MX" b="1" dirty="0"/>
              <a:t>)</a:t>
            </a:r>
            <a:br>
              <a:rPr lang="fr-FR" dirty="0"/>
            </a:br>
            <a:br>
              <a:rPr lang="es-MX" dirty="0"/>
            </a:br>
            <a:endParaRPr lang="fr-FR" dirty="0"/>
          </a:p>
        </p:txBody>
      </p:sp>
      <p:sp>
        <p:nvSpPr>
          <p:cNvPr id="3" name="Espace réservé du contenu 2"/>
          <p:cNvSpPr>
            <a:spLocks noGrp="1"/>
          </p:cNvSpPr>
          <p:nvPr>
            <p:ph idx="1"/>
          </p:nvPr>
        </p:nvSpPr>
        <p:spPr/>
        <p:txBody>
          <a:bodyPr>
            <a:normAutofit/>
          </a:bodyPr>
          <a:lstStyle/>
          <a:p>
            <a:pPr algn="just"/>
            <a:r>
              <a:rPr lang="es-MX" sz="3600" b="1" dirty="0"/>
              <a:t>Página web</a:t>
            </a:r>
          </a:p>
          <a:p>
            <a:pPr marL="0" indent="0" algn="just">
              <a:buNone/>
            </a:pPr>
            <a:r>
              <a:rPr lang="fr-FR" sz="3600" dirty="0"/>
              <a:t>Auteur ou organisme (date). </a:t>
            </a:r>
            <a:r>
              <a:rPr lang="fr-FR" sz="3600" i="1" dirty="0"/>
              <a:t>Titre de la page web. </a:t>
            </a:r>
            <a:r>
              <a:rPr lang="fr-FR" sz="3600" dirty="0"/>
              <a:t>Titre du site web. URL.</a:t>
            </a:r>
          </a:p>
          <a:p>
            <a:pPr marL="0" indent="0" algn="just">
              <a:buNone/>
            </a:pPr>
            <a:r>
              <a:rPr lang="fr-FR" sz="3600" dirty="0"/>
              <a:t> </a:t>
            </a:r>
            <a:br>
              <a:rPr lang="fr-FR" sz="3600" dirty="0"/>
            </a:br>
            <a:r>
              <a:rPr lang="fr-FR" sz="3600" b="1" dirty="0"/>
              <a:t>Exemple : </a:t>
            </a:r>
            <a:r>
              <a:rPr lang="fr-FR" sz="3600" dirty="0" err="1"/>
              <a:t>Compilatio</a:t>
            </a:r>
            <a:r>
              <a:rPr lang="fr-FR" sz="3600" dirty="0"/>
              <a:t> (2023, juillet 19). </a:t>
            </a:r>
            <a:r>
              <a:rPr lang="fr-FR" sz="3600" i="1" dirty="0"/>
              <a:t>La triche à l'ère de </a:t>
            </a:r>
            <a:r>
              <a:rPr lang="fr-FR" sz="3600" i="1" dirty="0" err="1"/>
              <a:t>ChatGPT</a:t>
            </a:r>
            <a:r>
              <a:rPr lang="fr-FR" sz="3600" i="1" dirty="0"/>
              <a:t>: constats et solutions pour préserver l'intégrité académique</a:t>
            </a:r>
            <a:r>
              <a:rPr lang="fr-FR" sz="3600" dirty="0"/>
              <a:t>. </a:t>
            </a:r>
            <a:r>
              <a:rPr lang="fr-FR" sz="3600" dirty="0" err="1"/>
              <a:t>Compilatio</a:t>
            </a:r>
            <a:r>
              <a:rPr lang="fr-FR" sz="3600" dirty="0"/>
              <a:t>. </a:t>
            </a:r>
            <a:r>
              <a:rPr lang="fr-FR" sz="3600" u="sng" dirty="0">
                <a:hlinkClick r:id="rId3"/>
              </a:rPr>
              <a:t>https://www.compilatio.net/blog/triche-avec-chatgpt</a:t>
            </a:r>
            <a:r>
              <a:rPr lang="fr-FR" sz="3600" u="sng" dirty="0"/>
              <a:t>.</a:t>
            </a:r>
            <a:endParaRPr lang="es-MX" sz="3600" dirty="0"/>
          </a:p>
          <a:p>
            <a:pPr marL="0" indent="0" algn="just">
              <a:buNone/>
            </a:pPr>
            <a:endParaRPr lang="fr-FR" sz="3600" dirty="0"/>
          </a:p>
          <a:p>
            <a:pPr marL="0" indent="0" algn="just">
              <a:buNone/>
            </a:pPr>
            <a:endParaRPr lang="fr-FR" sz="3600" dirty="0"/>
          </a:p>
          <a:p>
            <a:endParaRPr lang="fr-FR" dirty="0"/>
          </a:p>
        </p:txBody>
      </p:sp>
    </p:spTree>
    <p:extLst>
      <p:ext uri="{BB962C8B-B14F-4D97-AF65-F5344CB8AC3E}">
        <p14:creationId xmlns:p14="http://schemas.microsoft.com/office/powerpoint/2010/main" val="2890244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br>
              <a:rPr lang="es-MX" b="1" dirty="0"/>
            </a:br>
            <a:br>
              <a:rPr lang="es-MX" b="1" dirty="0"/>
            </a:br>
            <a:r>
              <a:rPr lang="es-MX" b="1" dirty="0"/>
              <a:t>BIBLIOGRAFIA : FUENTES DIGITALES (</a:t>
            </a:r>
            <a:r>
              <a:rPr lang="es-MX" b="1" dirty="0" err="1"/>
              <a:t>Sitiografía</a:t>
            </a:r>
            <a:r>
              <a:rPr lang="es-MX" b="1" dirty="0"/>
              <a:t>)</a:t>
            </a:r>
            <a:br>
              <a:rPr lang="fr-FR" dirty="0"/>
            </a:br>
            <a:br>
              <a:rPr lang="es-MX" dirty="0"/>
            </a:br>
            <a:endParaRPr lang="fr-FR" dirty="0"/>
          </a:p>
        </p:txBody>
      </p:sp>
      <p:sp>
        <p:nvSpPr>
          <p:cNvPr id="3" name="Espace réservé du contenu 2"/>
          <p:cNvSpPr>
            <a:spLocks noGrp="1"/>
          </p:cNvSpPr>
          <p:nvPr>
            <p:ph idx="1"/>
          </p:nvPr>
        </p:nvSpPr>
        <p:spPr/>
        <p:txBody>
          <a:bodyPr>
            <a:normAutofit/>
          </a:bodyPr>
          <a:lstStyle/>
          <a:p>
            <a:pPr algn="just"/>
            <a:r>
              <a:rPr lang="es-MX" sz="3600" b="1" dirty="0"/>
              <a:t>Artículo en línea de un diario</a:t>
            </a:r>
            <a:endParaRPr lang="fr-FR" sz="3600" dirty="0"/>
          </a:p>
          <a:p>
            <a:pPr marL="0" indent="0" algn="just">
              <a:buNone/>
            </a:pPr>
            <a:r>
              <a:rPr lang="es-MX" sz="3600" dirty="0"/>
              <a:t>Apellido, Inicial del nombre. (AÑO, día y mes). “Título del artículo”. </a:t>
            </a:r>
            <a:r>
              <a:rPr lang="es-MX" sz="3600" i="1" dirty="0"/>
              <a:t>Título de la publicación.</a:t>
            </a:r>
            <a:r>
              <a:rPr lang="es-MX" sz="3600" dirty="0"/>
              <a:t> URL</a:t>
            </a:r>
          </a:p>
          <a:p>
            <a:pPr marL="0" indent="0" algn="just">
              <a:buNone/>
            </a:pPr>
            <a:r>
              <a:rPr lang="fr-FR" sz="3600" dirty="0"/>
              <a:t>Gutiérrez, H. (2017 27 </a:t>
            </a:r>
            <a:r>
              <a:rPr lang="fr-FR" sz="3600" dirty="0" err="1"/>
              <a:t>abril</a:t>
            </a:r>
            <a:r>
              <a:rPr lang="fr-FR" sz="3600" dirty="0"/>
              <a:t>). </a:t>
            </a:r>
            <a:r>
              <a:rPr lang="es-MX" sz="3600" dirty="0"/>
              <a:t>Así será el turismo en España en 2017: más turistas, precios más altos y hoteles renovados. </a:t>
            </a:r>
            <a:r>
              <a:rPr lang="es-MX" sz="3600" i="1" dirty="0"/>
              <a:t>El País. </a:t>
            </a:r>
            <a:r>
              <a:rPr lang="es-MX" sz="3600" u="sng" dirty="0">
                <a:hlinkClick r:id="rId3"/>
              </a:rPr>
              <a:t>https://elpais.com/economia/2017/04/26/actualidad/1493211122_897645.html</a:t>
            </a:r>
            <a:r>
              <a:rPr lang="es-MX" sz="3600" dirty="0"/>
              <a:t>. </a:t>
            </a:r>
            <a:endParaRPr lang="fr-FR" sz="3600" dirty="0"/>
          </a:p>
          <a:p>
            <a:pPr marL="0" indent="0" algn="just">
              <a:buNone/>
            </a:pPr>
            <a:endParaRPr lang="es-MX" sz="3600" dirty="0"/>
          </a:p>
          <a:p>
            <a:pPr marL="0" indent="0">
              <a:buNone/>
            </a:pPr>
            <a:endParaRPr lang="fr-FR" dirty="0"/>
          </a:p>
        </p:txBody>
      </p:sp>
    </p:spTree>
    <p:extLst>
      <p:ext uri="{BB962C8B-B14F-4D97-AF65-F5344CB8AC3E}">
        <p14:creationId xmlns:p14="http://schemas.microsoft.com/office/powerpoint/2010/main" val="290118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br>
              <a:rPr lang="es-MX" b="1" dirty="0"/>
            </a:br>
            <a:r>
              <a:rPr lang="es-MX" b="1" dirty="0"/>
              <a:t>BIBLIOGRAFIA : DOCUMENTOS AUDIOVISUALES</a:t>
            </a:r>
            <a:br>
              <a:rPr lang="fr-FR" dirty="0"/>
            </a:br>
            <a:endParaRPr lang="fr-FR" dirty="0"/>
          </a:p>
        </p:txBody>
      </p:sp>
      <p:sp>
        <p:nvSpPr>
          <p:cNvPr id="3" name="Espace réservé du contenu 2"/>
          <p:cNvSpPr>
            <a:spLocks noGrp="1"/>
          </p:cNvSpPr>
          <p:nvPr>
            <p:ph idx="1"/>
          </p:nvPr>
        </p:nvSpPr>
        <p:spPr/>
        <p:txBody>
          <a:bodyPr>
            <a:normAutofit/>
          </a:bodyPr>
          <a:lstStyle/>
          <a:p>
            <a:pPr marL="0" indent="0">
              <a:buNone/>
            </a:pPr>
            <a:r>
              <a:rPr lang="es-MX" b="1" dirty="0"/>
              <a:t>-Vídeos o entrevistas en línea :</a:t>
            </a:r>
          </a:p>
          <a:p>
            <a:pPr marL="0" indent="0">
              <a:buNone/>
            </a:pPr>
            <a:r>
              <a:rPr lang="fr-FR" dirty="0"/>
              <a:t>Auteur. (Date). </a:t>
            </a:r>
            <a:r>
              <a:rPr lang="fr-FR" i="1" dirty="0"/>
              <a:t>Titre de l'œuvre </a:t>
            </a:r>
            <a:r>
              <a:rPr lang="fr-FR" dirty="0"/>
              <a:t>[Support]. Producteur si support physique/Nom de la plateforme si ressource en ligne. URL. </a:t>
            </a:r>
          </a:p>
          <a:p>
            <a:pPr marL="0" indent="0">
              <a:buNone/>
            </a:pPr>
            <a:r>
              <a:rPr lang="es-MX" dirty="0" err="1"/>
              <a:t>Canopé</a:t>
            </a:r>
            <a:r>
              <a:rPr lang="es-MX" dirty="0"/>
              <a:t> </a:t>
            </a:r>
            <a:r>
              <a:rPr lang="es-MX" dirty="0" err="1"/>
              <a:t>Académie</a:t>
            </a:r>
            <a:r>
              <a:rPr lang="es-MX" dirty="0"/>
              <a:t> de </a:t>
            </a:r>
            <a:r>
              <a:rPr lang="es-MX" dirty="0" err="1"/>
              <a:t>Bordeaux</a:t>
            </a:r>
            <a:r>
              <a:rPr lang="es-MX" dirty="0"/>
              <a:t>. (</a:t>
            </a:r>
            <a:r>
              <a:rPr lang="fr-FR" dirty="0"/>
              <a:t>01/07/2014).</a:t>
            </a:r>
            <a:r>
              <a:rPr lang="es-MX" dirty="0"/>
              <a:t> </a:t>
            </a:r>
            <a:r>
              <a:rPr lang="es-MX" i="1" dirty="0" err="1"/>
              <a:t>Petits</a:t>
            </a:r>
            <a:r>
              <a:rPr lang="es-MX" i="1" dirty="0"/>
              <a:t> </a:t>
            </a:r>
            <a:r>
              <a:rPr lang="es-MX" i="1" dirty="0" err="1"/>
              <a:t>ateliers</a:t>
            </a:r>
            <a:r>
              <a:rPr lang="es-MX" i="1" dirty="0"/>
              <a:t> de musique, </a:t>
            </a:r>
            <a:r>
              <a:rPr lang="es-MX" i="1" dirty="0" err="1"/>
              <a:t>mode</a:t>
            </a:r>
            <a:r>
              <a:rPr lang="es-MX" i="1" dirty="0"/>
              <a:t> </a:t>
            </a:r>
            <a:r>
              <a:rPr lang="es-MX" i="1" dirty="0" err="1"/>
              <a:t>d'emploi</a:t>
            </a:r>
            <a:r>
              <a:rPr lang="es-MX" i="1" dirty="0"/>
              <a:t> </a:t>
            </a:r>
            <a:r>
              <a:rPr lang="es-MX" dirty="0"/>
              <a:t>[</a:t>
            </a:r>
            <a:r>
              <a:rPr lang="fr-FR" dirty="0" err="1"/>
              <a:t>video</a:t>
            </a:r>
            <a:r>
              <a:rPr lang="fr-FR" dirty="0"/>
              <a:t> en l</a:t>
            </a:r>
            <a:r>
              <a:rPr lang="es-MX" b="1" dirty="0"/>
              <a:t>í</a:t>
            </a:r>
            <a:r>
              <a:rPr lang="fr-FR" dirty="0" err="1"/>
              <a:t>nea</a:t>
            </a:r>
            <a:r>
              <a:rPr lang="fr-FR" dirty="0"/>
              <a:t>]. </a:t>
            </a:r>
            <a:r>
              <a:rPr lang="fr-FR" u="sng" dirty="0">
                <a:hlinkClick r:id="rId3"/>
              </a:rPr>
              <a:t>https://www.youtube.com/watch?v=aFk_h45qxsU&amp;ebc=ANyPxKpUwefDgUexhYwV2-J6mOKRK_8WE-8iODFqjd6_jtinqG9ZGlerOplGGGqDK5hak-d6oyJBG_S_giW2m_eT-0ROmFMM8g</a:t>
            </a:r>
            <a:endParaRPr lang="fr-FR" dirty="0"/>
          </a:p>
        </p:txBody>
      </p:sp>
    </p:spTree>
    <p:extLst>
      <p:ext uri="{BB962C8B-B14F-4D97-AF65-F5344CB8AC3E}">
        <p14:creationId xmlns:p14="http://schemas.microsoft.com/office/powerpoint/2010/main" val="4158041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INDICE DE ILUSTRACIONES</a:t>
            </a:r>
          </a:p>
        </p:txBody>
      </p:sp>
      <p:sp>
        <p:nvSpPr>
          <p:cNvPr id="3" name="Espace réservé du contenu 2"/>
          <p:cNvSpPr>
            <a:spLocks noGrp="1"/>
          </p:cNvSpPr>
          <p:nvPr>
            <p:ph idx="1"/>
          </p:nvPr>
        </p:nvSpPr>
        <p:spPr/>
        <p:txBody>
          <a:bodyPr>
            <a:normAutofit lnSpcReduction="10000"/>
          </a:bodyPr>
          <a:lstStyle/>
          <a:p>
            <a:pPr marL="0" indent="0">
              <a:buNone/>
            </a:pPr>
            <a:r>
              <a:rPr lang="es-MX" dirty="0"/>
              <a:t>Al final del informe en el INDICE DE ILUSTRACIONES se hace el listado de figuras o ilustraciones numerado con las referencias completas de la fuente. Cf. hoja de estilo</a:t>
            </a:r>
            <a:endParaRPr lang="fr-FR" dirty="0"/>
          </a:p>
          <a:p>
            <a:pPr marL="0" indent="0">
              <a:buNone/>
            </a:pPr>
            <a:r>
              <a:rPr lang="es-MX" dirty="0"/>
              <a:t>INDICE DE ILUSTRACIONES</a:t>
            </a:r>
          </a:p>
          <a:p>
            <a:pPr marL="0" indent="0">
              <a:buNone/>
            </a:pPr>
            <a:r>
              <a:rPr lang="fr-FR" b="1" dirty="0" err="1"/>
              <a:t>Apellido</a:t>
            </a:r>
            <a:r>
              <a:rPr lang="fr-FR" b="1" dirty="0"/>
              <a:t> </a:t>
            </a:r>
            <a:r>
              <a:rPr lang="fr-FR" b="1" dirty="0" err="1"/>
              <a:t>del</a:t>
            </a:r>
            <a:r>
              <a:rPr lang="fr-FR" b="1" dirty="0"/>
              <a:t> </a:t>
            </a:r>
            <a:r>
              <a:rPr lang="fr-FR" b="1" dirty="0" err="1"/>
              <a:t>autor</a:t>
            </a:r>
            <a:r>
              <a:rPr lang="fr-FR" b="1" dirty="0"/>
              <a:t>, </a:t>
            </a:r>
            <a:r>
              <a:rPr lang="fr-FR" b="1" dirty="0" err="1"/>
              <a:t>inicial</a:t>
            </a:r>
            <a:r>
              <a:rPr lang="fr-FR" b="1" dirty="0"/>
              <a:t> </a:t>
            </a:r>
            <a:r>
              <a:rPr lang="fr-FR" b="1" dirty="0" err="1"/>
              <a:t>del</a:t>
            </a:r>
            <a:r>
              <a:rPr lang="fr-FR" b="1" dirty="0"/>
              <a:t> nombre, </a:t>
            </a:r>
            <a:r>
              <a:rPr lang="fr-FR" b="1" dirty="0" err="1"/>
              <a:t>año</a:t>
            </a:r>
            <a:r>
              <a:rPr lang="fr-FR" b="1" dirty="0"/>
              <a:t> de </a:t>
            </a:r>
            <a:r>
              <a:rPr lang="fr-FR" b="1" dirty="0" err="1"/>
              <a:t>publicacion</a:t>
            </a:r>
            <a:r>
              <a:rPr lang="fr-FR" b="1" dirty="0"/>
              <a:t>. </a:t>
            </a:r>
            <a:r>
              <a:rPr lang="fr-FR" b="1" dirty="0" err="1"/>
              <a:t>Titulo</a:t>
            </a:r>
            <a:r>
              <a:rPr lang="fr-FR" b="1" dirty="0"/>
              <a:t>. </a:t>
            </a:r>
            <a:r>
              <a:rPr lang="fr-FR" dirty="0"/>
              <a:t>[</a:t>
            </a:r>
            <a:r>
              <a:rPr lang="fr-FR" b="1" dirty="0" err="1"/>
              <a:t>Descripcion</a:t>
            </a:r>
            <a:r>
              <a:rPr lang="fr-FR" b="1" dirty="0"/>
              <a:t> entre </a:t>
            </a:r>
            <a:r>
              <a:rPr lang="fr-FR" b="1" dirty="0" err="1"/>
              <a:t>paréntesis</a:t>
            </a:r>
            <a:r>
              <a:rPr lang="fr-FR" dirty="0"/>
              <a:t>]</a:t>
            </a:r>
            <a:r>
              <a:rPr lang="fr-FR" b="1" dirty="0"/>
              <a:t>. Fuente (nombre de la pagina Web y URL)</a:t>
            </a:r>
            <a:endParaRPr lang="es-MX" dirty="0"/>
          </a:p>
          <a:p>
            <a:pPr marL="0" indent="0">
              <a:buNone/>
            </a:pPr>
            <a:r>
              <a:rPr lang="es-MX" dirty="0"/>
              <a:t>Ilustración 1</a:t>
            </a:r>
            <a:r>
              <a:rPr lang="fr-FR" dirty="0"/>
              <a:t> </a:t>
            </a:r>
            <a:r>
              <a:rPr lang="es-MX" dirty="0"/>
              <a:t>INE, Delgado C. (29/02/2016). El turismo en España sigue imparable, en enero crecen el 11.2 % las llegadas </a:t>
            </a:r>
            <a:r>
              <a:rPr lang="fr-FR" dirty="0"/>
              <a:t>[ </a:t>
            </a:r>
            <a:r>
              <a:rPr lang="es-MX" dirty="0"/>
              <a:t>gráfica</a:t>
            </a:r>
            <a:r>
              <a:rPr lang="fr-FR" dirty="0"/>
              <a:t>]</a:t>
            </a:r>
            <a:r>
              <a:rPr lang="es-MX" dirty="0"/>
              <a:t>. </a:t>
            </a:r>
            <a:r>
              <a:rPr lang="es-MX" i="1" dirty="0"/>
              <a:t>El país </a:t>
            </a:r>
            <a:r>
              <a:rPr lang="es-MX" u="sng" dirty="0">
                <a:hlinkClick r:id="rId2"/>
              </a:rPr>
              <a:t>https://elpais.com/economia/2016/02/29/actualidad/1456741305_140364.html</a:t>
            </a:r>
            <a:endParaRPr lang="fr-FR" dirty="0"/>
          </a:p>
        </p:txBody>
      </p:sp>
    </p:spTree>
    <p:extLst>
      <p:ext uri="{BB962C8B-B14F-4D97-AF65-F5344CB8AC3E}">
        <p14:creationId xmlns:p14="http://schemas.microsoft.com/office/powerpoint/2010/main" val="3040478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3B975F-CBDB-4AEF-9013-78A227424678}"/>
              </a:ext>
            </a:extLst>
          </p:cNvPr>
          <p:cNvSpPr>
            <a:spLocks noGrp="1"/>
          </p:cNvSpPr>
          <p:nvPr>
            <p:ph type="title"/>
          </p:nvPr>
        </p:nvSpPr>
        <p:spPr>
          <a:xfrm>
            <a:off x="838200" y="365125"/>
            <a:ext cx="10389124" cy="690677"/>
          </a:xfrm>
        </p:spPr>
        <p:txBody>
          <a:bodyPr>
            <a:normAutofit fontScale="90000"/>
          </a:bodyPr>
          <a:lstStyle/>
          <a:p>
            <a:pPr algn="ctr"/>
            <a:r>
              <a:rPr lang="fr-FR" dirty="0"/>
              <a:t>LA DEFENSA (soutenance)</a:t>
            </a:r>
          </a:p>
        </p:txBody>
      </p:sp>
      <p:sp>
        <p:nvSpPr>
          <p:cNvPr id="3" name="Espace réservé du contenu 2">
            <a:extLst>
              <a:ext uri="{FF2B5EF4-FFF2-40B4-BE49-F238E27FC236}">
                <a16:creationId xmlns:a16="http://schemas.microsoft.com/office/drawing/2014/main" id="{BB94046E-505C-4D36-82E4-5F06127E9425}"/>
              </a:ext>
            </a:extLst>
          </p:cNvPr>
          <p:cNvSpPr>
            <a:spLocks noGrp="1"/>
          </p:cNvSpPr>
          <p:nvPr>
            <p:ph idx="1"/>
          </p:nvPr>
        </p:nvSpPr>
        <p:spPr>
          <a:xfrm>
            <a:off x="754143" y="1536569"/>
            <a:ext cx="11048215" cy="4956306"/>
          </a:xfrm>
        </p:spPr>
        <p:txBody>
          <a:bodyPr>
            <a:normAutofit fontScale="77500" lnSpcReduction="20000"/>
          </a:bodyPr>
          <a:lstStyle/>
          <a:p>
            <a:pPr marL="0" indent="0" algn="ctr">
              <a:buNone/>
            </a:pPr>
            <a:r>
              <a:rPr lang="es-MX" sz="7400" dirty="0"/>
              <a:t>CONSEJOS PARA LA PRESENTACION ORAL DEL INFORME DE PRACTICAS</a:t>
            </a:r>
            <a:endParaRPr lang="fr-FR" sz="7400" dirty="0"/>
          </a:p>
          <a:p>
            <a:pPr marL="0" indent="0">
              <a:buNone/>
            </a:pPr>
            <a:endParaRPr lang="fr-FR" sz="6200" dirty="0"/>
          </a:p>
          <a:p>
            <a:r>
              <a:rPr lang="es-MX" sz="6200" dirty="0"/>
              <a:t>Determinar el idioma con su tutor</a:t>
            </a:r>
            <a:endParaRPr lang="fr-FR" sz="6200" dirty="0"/>
          </a:p>
          <a:p>
            <a:r>
              <a:rPr lang="es-MX" sz="6200" dirty="0"/>
              <a:t>Duración de la defensa: 30 min. </a:t>
            </a:r>
            <a:endParaRPr lang="fr-FR" sz="6200" dirty="0"/>
          </a:p>
          <a:p>
            <a:r>
              <a:rPr lang="es-MX" sz="6200" dirty="0"/>
              <a:t>Duración de la presentación del alumno : alrededor de 10 min:</a:t>
            </a:r>
            <a:endParaRPr lang="fr-FR" sz="6200" dirty="0"/>
          </a:p>
          <a:p>
            <a:endParaRPr lang="fr-FR" dirty="0"/>
          </a:p>
        </p:txBody>
      </p:sp>
    </p:spTree>
    <p:extLst>
      <p:ext uri="{BB962C8B-B14F-4D97-AF65-F5344CB8AC3E}">
        <p14:creationId xmlns:p14="http://schemas.microsoft.com/office/powerpoint/2010/main" val="3579235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0E13A1-5BE6-4478-9644-E95F4370D9F3}"/>
              </a:ext>
            </a:extLst>
          </p:cNvPr>
          <p:cNvSpPr>
            <a:spLocks noGrp="1"/>
          </p:cNvSpPr>
          <p:nvPr>
            <p:ph type="title"/>
          </p:nvPr>
        </p:nvSpPr>
        <p:spPr/>
        <p:txBody>
          <a:bodyPr/>
          <a:lstStyle/>
          <a:p>
            <a:pPr algn="ctr"/>
            <a:r>
              <a:rPr lang="es-MX" dirty="0"/>
              <a:t>PRESENTACION ORAL DEL INFORME DE PRACTICAS</a:t>
            </a:r>
            <a:endParaRPr lang="fr-FR" dirty="0"/>
          </a:p>
        </p:txBody>
      </p:sp>
      <p:sp>
        <p:nvSpPr>
          <p:cNvPr id="3" name="Espace réservé du contenu 2">
            <a:extLst>
              <a:ext uri="{FF2B5EF4-FFF2-40B4-BE49-F238E27FC236}">
                <a16:creationId xmlns:a16="http://schemas.microsoft.com/office/drawing/2014/main" id="{26CB6B18-4C3E-40CD-B673-2784E07B0D03}"/>
              </a:ext>
            </a:extLst>
          </p:cNvPr>
          <p:cNvSpPr>
            <a:spLocks noGrp="1"/>
          </p:cNvSpPr>
          <p:nvPr>
            <p:ph idx="1"/>
          </p:nvPr>
        </p:nvSpPr>
        <p:spPr/>
        <p:txBody>
          <a:bodyPr>
            <a:normAutofit fontScale="92500" lnSpcReduction="10000"/>
          </a:bodyPr>
          <a:lstStyle/>
          <a:p>
            <a:pPr marL="0" indent="0">
              <a:buNone/>
            </a:pPr>
            <a:r>
              <a:rPr lang="es-MX" dirty="0"/>
              <a:t>1 Presentación del alumno y su historial académico, eventualmente previas experiencias profesionales (puede llevar notas o borrador, pero no debe leerlo):</a:t>
            </a:r>
            <a:endParaRPr lang="fr-FR" dirty="0"/>
          </a:p>
          <a:p>
            <a:pPr marL="0" indent="0">
              <a:buNone/>
            </a:pPr>
            <a:r>
              <a:rPr lang="es-MX" dirty="0"/>
              <a:t>2 Elección del título y empresa</a:t>
            </a:r>
            <a:endParaRPr lang="fr-FR" dirty="0"/>
          </a:p>
          <a:p>
            <a:pPr marL="0" indent="0">
              <a:buNone/>
            </a:pPr>
            <a:r>
              <a:rPr lang="es-MX" dirty="0"/>
              <a:t>3 Articulación o estructuración del informe (orientaciones tomadas : orden cronológico o por tipo de misión) </a:t>
            </a:r>
            <a:endParaRPr lang="fr-FR" dirty="0"/>
          </a:p>
          <a:p>
            <a:pPr marL="0" indent="0">
              <a:buNone/>
            </a:pPr>
            <a:r>
              <a:rPr lang="es-MX" dirty="0"/>
              <a:t>4 Dificultades en la realización de las prácticas y del informe</a:t>
            </a:r>
            <a:endParaRPr lang="fr-FR" dirty="0"/>
          </a:p>
          <a:p>
            <a:pPr marL="0" indent="0">
              <a:buNone/>
            </a:pPr>
            <a:r>
              <a:rPr lang="es-MX" dirty="0"/>
              <a:t>5 Perspectivas (proyectos académicos o profesionales, ¿cómo le han enriquecido personalmente estas prácticas y el informe de prácticas?)  </a:t>
            </a:r>
            <a:endParaRPr lang="fr-FR" dirty="0"/>
          </a:p>
          <a:p>
            <a:r>
              <a:rPr lang="es-MX" dirty="0"/>
              <a:t>Enseguida responderá a las preguntas y observaciones de su </a:t>
            </a:r>
            <a:r>
              <a:rPr lang="es-MX" dirty="0" err="1"/>
              <a:t>tutor.a</a:t>
            </a:r>
            <a:r>
              <a:rPr lang="es-MX" dirty="0"/>
              <a:t>.</a:t>
            </a:r>
            <a:endParaRPr lang="fr-FR" dirty="0"/>
          </a:p>
          <a:p>
            <a:pPr marL="0" indent="0">
              <a:buNone/>
            </a:pPr>
            <a:r>
              <a:rPr lang="es-MX" dirty="0"/>
              <a:t> </a:t>
            </a:r>
            <a:endParaRPr lang="fr-FR" dirty="0"/>
          </a:p>
          <a:p>
            <a:endParaRPr lang="fr-FR" dirty="0"/>
          </a:p>
        </p:txBody>
      </p:sp>
    </p:spTree>
    <p:extLst>
      <p:ext uri="{BB962C8B-B14F-4D97-AF65-F5344CB8AC3E}">
        <p14:creationId xmlns:p14="http://schemas.microsoft.com/office/powerpoint/2010/main" val="79331508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1121</Words>
  <Application>Microsoft Office PowerPoint</Application>
  <PresentationFormat>Grand écran</PresentationFormat>
  <Paragraphs>74</Paragraphs>
  <Slides>15</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Calibri</vt:lpstr>
      <vt:lpstr>Calibri Light</vt:lpstr>
      <vt:lpstr>Times New Roman</vt:lpstr>
      <vt:lpstr>Wingdings</vt:lpstr>
      <vt:lpstr>Thème Office</vt:lpstr>
      <vt:lpstr>LAS NORMAS BIBLIOGRAFICAS APA</vt:lpstr>
      <vt:lpstr>Présentation PowerPoint</vt:lpstr>
      <vt:lpstr>LAS CITAS (norma APA)</vt:lpstr>
      <vt:lpstr>LAS CITAS (norma APA)</vt:lpstr>
      <vt:lpstr>LAS CITAS (norma APA)</vt:lpstr>
      <vt:lpstr>ILUSTRACIONES</vt:lpstr>
      <vt:lpstr> El informe de prácticas   </vt:lpstr>
      <vt:lpstr>LAS REFERENCIAS BIBLIOGRAFICAS</vt:lpstr>
      <vt:lpstr>   LAS REFERENCIAS BIBLIOGRAFICAS   </vt:lpstr>
      <vt:lpstr>  LAS REFERENCIAS BIBLIOGRAFICAS FUENTES DIGITALES (Sitiografía)  </vt:lpstr>
      <vt:lpstr>  BIBLIOGRAFIA : FUENTES DIGITALES (Sitiografía)  </vt:lpstr>
      <vt:lpstr> BIBLIOGRAFIA : DOCUMENTOS AUDIOVISUALES </vt:lpstr>
      <vt:lpstr>INDICE DE ILUSTRACIONES</vt:lpstr>
      <vt:lpstr>LA DEFENSA (soutenance)</vt:lpstr>
      <vt:lpstr>PRESENTACION ORAL DEL INFORME DE PRACTICAS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NORMAS BIBLIOGRAFICAS APA</dc:title>
  <dc:creator>Alba Lara Alengrin</dc:creator>
  <cp:lastModifiedBy>Alba Lara Alengrin</cp:lastModifiedBy>
  <cp:revision>4</cp:revision>
  <dcterms:created xsi:type="dcterms:W3CDTF">2025-06-15T15:36:30Z</dcterms:created>
  <dcterms:modified xsi:type="dcterms:W3CDTF">2026-03-16T16:51:00Z</dcterms:modified>
</cp:coreProperties>
</file>